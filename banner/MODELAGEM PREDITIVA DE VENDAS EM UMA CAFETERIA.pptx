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404050" cy="4320698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guPb7pNLnLjw578TNRcwOM0JXz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672" y="-63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0" y="695325"/>
            <a:ext cx="0" cy="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2" cy="411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95325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"/>
            <a:headEnd type="none" w="sm" len="sm"/>
            <a:tailEnd type="none" w="sm" len="sm"/>
          </a:ln>
        </p:spPr>
      </p:sp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 rot="5400000">
            <a:off x="8705056" y="16517144"/>
            <a:ext cx="36863338" cy="7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 rot="5400000">
            <a:off x="-5951537" y="9302751"/>
            <a:ext cx="36863338" cy="2171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t" anchorCtr="0">
            <a:noAutofit/>
          </a:bodyPr>
          <a:lstStyle>
            <a:lvl1pPr marL="457200" lvl="0" indent="-228600" algn="l">
              <a:spcBef>
                <a:spcPts val="3775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2825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dt" idx="10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 rot="5400000">
            <a:off x="1944687" y="9756775"/>
            <a:ext cx="28513087" cy="29160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t" anchorCtr="0">
            <a:noAutofit/>
          </a:bodyPr>
          <a:lstStyle>
            <a:lvl1pPr marL="457200" lvl="0" indent="-228600" algn="l">
              <a:spcBef>
                <a:spcPts val="3775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2825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dt" idx="10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6351588" y="30245050"/>
            <a:ext cx="19442112" cy="357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>
            <a:spLocks noGrp="1"/>
          </p:cNvSpPr>
          <p:nvPr>
            <p:ph type="pic" idx="2"/>
          </p:nvPr>
        </p:nvSpPr>
        <p:spPr>
          <a:xfrm>
            <a:off x="6351588" y="3860800"/>
            <a:ext cx="19442112" cy="25923875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6351588" y="33815338"/>
            <a:ext cx="19442112" cy="507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t" anchorCtr="0">
            <a:noAutofit/>
          </a:bodyPr>
          <a:lstStyle>
            <a:lvl1pPr marL="457200" lvl="0" indent="-228600" algn="l">
              <a:spcBef>
                <a:spcPts val="377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3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825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1620838" y="1720850"/>
            <a:ext cx="10660062" cy="731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12669838" y="1720850"/>
            <a:ext cx="18113375" cy="36876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t" anchorCtr="0">
            <a:noAutofit/>
          </a:bodyPr>
          <a:lstStyle>
            <a:lvl1pPr marL="457200" lvl="0" indent="-228600" algn="l">
              <a:spcBef>
                <a:spcPts val="3775"/>
              </a:spcBef>
              <a:spcAft>
                <a:spcPts val="0"/>
              </a:spcAft>
              <a:buSzPts val="1400"/>
              <a:buNone/>
              <a:defRPr sz="3200"/>
            </a:lvl1pPr>
            <a:lvl2pPr marL="914400" lvl="1" indent="-228600" algn="l">
              <a:spcBef>
                <a:spcPts val="3300"/>
              </a:spcBef>
              <a:spcAft>
                <a:spcPts val="0"/>
              </a:spcAft>
              <a:buSzPts val="1400"/>
              <a:buNone/>
              <a:defRPr sz="2800"/>
            </a:lvl2pPr>
            <a:lvl3pPr marL="1371600" lvl="2" indent="-228600" algn="l">
              <a:spcBef>
                <a:spcPts val="2825"/>
              </a:spcBef>
              <a:spcAft>
                <a:spcPts val="0"/>
              </a:spcAft>
              <a:buSzPts val="1400"/>
              <a:buNone/>
              <a:defRPr sz="2400"/>
            </a:lvl3pPr>
            <a:lvl4pPr marL="1828800" lvl="3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2"/>
          </p:nvPr>
        </p:nvSpPr>
        <p:spPr>
          <a:xfrm>
            <a:off x="1620838" y="9040813"/>
            <a:ext cx="10660062" cy="2955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t" anchorCtr="0">
            <a:noAutofit/>
          </a:bodyPr>
          <a:lstStyle>
            <a:lvl1pPr marL="457200" lvl="0" indent="-228600" algn="l">
              <a:spcBef>
                <a:spcPts val="377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3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825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dt" idx="10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1620838" y="9671050"/>
            <a:ext cx="14316075" cy="4030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b" anchorCtr="0">
            <a:noAutofit/>
          </a:bodyPr>
          <a:lstStyle>
            <a:lvl1pPr marL="457200" lvl="0" indent="-228600" algn="l">
              <a:spcBef>
                <a:spcPts val="377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3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2825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23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2375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2375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2375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2375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2375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1620838" y="13701713"/>
            <a:ext cx="14316075" cy="248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t" anchorCtr="0">
            <a:noAutofit/>
          </a:bodyPr>
          <a:lstStyle>
            <a:lvl1pPr marL="457200" lvl="0" indent="-228600" algn="l">
              <a:spcBef>
                <a:spcPts val="3775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spcBef>
                <a:spcPts val="3300"/>
              </a:spcBef>
              <a:spcAft>
                <a:spcPts val="0"/>
              </a:spcAft>
              <a:buSzPts val="1400"/>
              <a:buNone/>
              <a:defRPr sz="2000"/>
            </a:lvl2pPr>
            <a:lvl3pPr marL="1371600" lvl="2" indent="-228600" algn="l">
              <a:spcBef>
                <a:spcPts val="2825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16460788" y="9671050"/>
            <a:ext cx="14322425" cy="4030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b" anchorCtr="0">
            <a:noAutofit/>
          </a:bodyPr>
          <a:lstStyle>
            <a:lvl1pPr marL="457200" lvl="0" indent="-228600" algn="l">
              <a:spcBef>
                <a:spcPts val="377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3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2825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23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2375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2375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2375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2375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2375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16460788" y="13701713"/>
            <a:ext cx="14322425" cy="248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t" anchorCtr="0">
            <a:noAutofit/>
          </a:bodyPr>
          <a:lstStyle>
            <a:lvl1pPr marL="457200" lvl="0" indent="-228600" algn="l">
              <a:spcBef>
                <a:spcPts val="3775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spcBef>
                <a:spcPts val="3300"/>
              </a:spcBef>
              <a:spcAft>
                <a:spcPts val="0"/>
              </a:spcAft>
              <a:buSzPts val="1400"/>
              <a:buNone/>
              <a:defRPr sz="2000"/>
            </a:lvl2pPr>
            <a:lvl3pPr marL="1371600" lvl="2" indent="-228600" algn="l">
              <a:spcBef>
                <a:spcPts val="2825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1620838" y="10080625"/>
            <a:ext cx="14503400" cy="2851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t" anchorCtr="0">
            <a:noAutofit/>
          </a:bodyPr>
          <a:lstStyle>
            <a:lvl1pPr marL="457200" lvl="0" indent="-228600" algn="l">
              <a:spcBef>
                <a:spcPts val="3775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228600" algn="l">
              <a:spcBef>
                <a:spcPts val="3300"/>
              </a:spcBef>
              <a:spcAft>
                <a:spcPts val="0"/>
              </a:spcAft>
              <a:buSzPts val="1400"/>
              <a:buNone/>
              <a:defRPr sz="2400"/>
            </a:lvl2pPr>
            <a:lvl3pPr marL="1371600" lvl="2" indent="-228600" algn="l">
              <a:spcBef>
                <a:spcPts val="2825"/>
              </a:spcBef>
              <a:spcAft>
                <a:spcPts val="0"/>
              </a:spcAft>
              <a:buSzPts val="1400"/>
              <a:buNone/>
              <a:defRPr sz="2000"/>
            </a:lvl3pPr>
            <a:lvl4pPr marL="1828800" lvl="3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body" idx="2"/>
          </p:nvPr>
        </p:nvSpPr>
        <p:spPr>
          <a:xfrm>
            <a:off x="16276638" y="10080625"/>
            <a:ext cx="14504987" cy="2851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t" anchorCtr="0">
            <a:noAutofit/>
          </a:bodyPr>
          <a:lstStyle>
            <a:lvl1pPr marL="457200" lvl="0" indent="-228600" algn="l">
              <a:spcBef>
                <a:spcPts val="3775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228600" algn="l">
              <a:spcBef>
                <a:spcPts val="3300"/>
              </a:spcBef>
              <a:spcAft>
                <a:spcPts val="0"/>
              </a:spcAft>
              <a:buSzPts val="1400"/>
              <a:buNone/>
              <a:defRPr sz="2400"/>
            </a:lvl2pPr>
            <a:lvl3pPr marL="1371600" lvl="2" indent="-228600" algn="l">
              <a:spcBef>
                <a:spcPts val="2825"/>
              </a:spcBef>
              <a:spcAft>
                <a:spcPts val="0"/>
              </a:spcAft>
              <a:buSzPts val="1400"/>
              <a:buNone/>
              <a:defRPr sz="2000"/>
            </a:lvl3pPr>
            <a:lvl4pPr marL="1828800" lvl="3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dt" idx="10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2559050" y="27763788"/>
            <a:ext cx="27544713" cy="858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2559050" y="18313400"/>
            <a:ext cx="27544713" cy="945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b" anchorCtr="0">
            <a:noAutofit/>
          </a:bodyPr>
          <a:lstStyle>
            <a:lvl1pPr marL="457200" lvl="0" indent="-228600" algn="l">
              <a:spcBef>
                <a:spcPts val="377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spcBef>
                <a:spcPts val="330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2825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dt" idx="10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1"/>
          </p:nvPr>
        </p:nvSpPr>
        <p:spPr>
          <a:xfrm>
            <a:off x="1620837" y="10080625"/>
            <a:ext cx="29160787" cy="2851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t" anchorCtr="0">
            <a:noAutofit/>
          </a:bodyPr>
          <a:lstStyle>
            <a:lvl1pPr marL="457200" lvl="0" indent="-228600" algn="l">
              <a:spcBef>
                <a:spcPts val="3775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2825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dt" idx="10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ctrTitle"/>
          </p:nvPr>
        </p:nvSpPr>
        <p:spPr>
          <a:xfrm>
            <a:off x="2430463" y="13422313"/>
            <a:ext cx="27543125" cy="926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4860925" y="24484013"/>
            <a:ext cx="22682200" cy="1104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t" anchorCtr="0">
            <a:noAutofit/>
          </a:bodyPr>
          <a:lstStyle>
            <a:lvl1pPr lvl="0" algn="ctr">
              <a:spcBef>
                <a:spcPts val="3775"/>
              </a:spcBef>
              <a:spcAft>
                <a:spcPts val="0"/>
              </a:spcAft>
              <a:buSzPts val="15100"/>
              <a:buNone/>
              <a:defRPr/>
            </a:lvl1pPr>
            <a:lvl2pPr lvl="1" algn="ctr">
              <a:spcBef>
                <a:spcPts val="3300"/>
              </a:spcBef>
              <a:spcAft>
                <a:spcPts val="0"/>
              </a:spcAft>
              <a:buSzPts val="13200"/>
              <a:buNone/>
              <a:defRPr/>
            </a:lvl2pPr>
            <a:lvl3pPr lvl="2" algn="ctr">
              <a:spcBef>
                <a:spcPts val="2825"/>
              </a:spcBef>
              <a:spcAft>
                <a:spcPts val="0"/>
              </a:spcAft>
              <a:buSzPts val="11300"/>
              <a:buNone/>
              <a:defRPr/>
            </a:lvl3pPr>
            <a:lvl4pPr lvl="3" algn="ctr"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4pPr>
            <a:lvl5pPr lvl="4" algn="ctr"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5pPr>
            <a:lvl6pPr lvl="5" algn="ctr"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6pPr>
            <a:lvl7pPr lvl="6" algn="ctr"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7pPr>
            <a:lvl8pPr lvl="7" algn="ctr"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8pPr>
            <a:lvl9pPr lvl="8" algn="ctr"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dt" idx="10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ldNum" idx="12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620837" y="10080625"/>
            <a:ext cx="29160787" cy="2851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t" anchorCtr="0">
            <a:noAutofit/>
          </a:bodyPr>
          <a:lstStyle>
            <a:lvl1pPr marL="457200" marR="0" lvl="0" indent="-228600" algn="l" rtl="0">
              <a:spcBef>
                <a:spcPts val="3775"/>
              </a:spcBef>
              <a:spcAft>
                <a:spcPts val="0"/>
              </a:spcAft>
              <a:buSzPts val="1400"/>
              <a:buNone/>
              <a:defRPr sz="15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300"/>
              </a:spcBef>
              <a:spcAft>
                <a:spcPts val="0"/>
              </a:spcAft>
              <a:buSzPts val="1400"/>
              <a:buNone/>
              <a:defRPr sz="1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825"/>
              </a:spcBef>
              <a:spcAft>
                <a:spcPts val="0"/>
              </a:spcAft>
              <a:buSzPts val="1400"/>
              <a:buNone/>
              <a:defRPr sz="1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375"/>
              </a:spcBef>
              <a:spcAft>
                <a:spcPts val="0"/>
              </a:spcAft>
              <a:buSzPts val="1400"/>
              <a:buNone/>
              <a:defRPr sz="9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375"/>
              </a:spcBef>
              <a:spcAft>
                <a:spcPts val="0"/>
              </a:spcAft>
              <a:buSzPts val="1400"/>
              <a:buNone/>
              <a:defRPr sz="9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375"/>
              </a:spcBef>
              <a:spcAft>
                <a:spcPts val="0"/>
              </a:spcAft>
              <a:buSzPts val="1400"/>
              <a:buNone/>
              <a:defRPr sz="9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375"/>
              </a:spcBef>
              <a:spcAft>
                <a:spcPts val="0"/>
              </a:spcAft>
              <a:buSzPts val="1400"/>
              <a:buNone/>
              <a:defRPr sz="9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375"/>
              </a:spcBef>
              <a:spcAft>
                <a:spcPts val="0"/>
              </a:spcAft>
              <a:buSzPts val="1400"/>
              <a:buNone/>
              <a:defRPr sz="9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375"/>
              </a:spcBef>
              <a:spcAft>
                <a:spcPts val="0"/>
              </a:spcAft>
              <a:buSzPts val="1400"/>
              <a:buNone/>
              <a:defRPr sz="9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/>
          <p:nvPr/>
        </p:nvSpPr>
        <p:spPr>
          <a:xfrm>
            <a:off x="11071225" y="40044687"/>
            <a:ext cx="10261600" cy="230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5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sz="57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s.google.com/machine-learning/crash-course?hl=pt-BR&amp;utm_source=chatgpt.com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" title="topo-banner-cet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5" y="866532"/>
            <a:ext cx="32292951" cy="43206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" title="topo-cetam-bann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25" y="-800"/>
            <a:ext cx="32292949" cy="1710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" title="subtitulos-fundo-banner-cet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74181" y="17652169"/>
            <a:ext cx="14287499" cy="74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" title="subtitulos-fundo-banner-cet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59238" y="34722973"/>
            <a:ext cx="14287499" cy="74603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"/>
          <p:cNvSpPr txBox="1"/>
          <p:nvPr/>
        </p:nvSpPr>
        <p:spPr>
          <a:xfrm>
            <a:off x="10261600" y="277925"/>
            <a:ext cx="12117300" cy="24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635"/>
              </a:buClr>
              <a:buSzPts val="6000"/>
              <a:buFont typeface="Arial Black"/>
              <a:buNone/>
            </a:pPr>
            <a:r>
              <a:rPr lang="en-US" sz="45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4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AMOSTRA DE BANNERS</a:t>
            </a:r>
            <a:endParaRPr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635"/>
              </a:buClr>
              <a:buSzPts val="6000"/>
              <a:buFont typeface="Arial Black"/>
              <a:buNone/>
            </a:pPr>
            <a:r>
              <a:rPr lang="en-US" sz="45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CURSO TÉCNICO</a:t>
            </a:r>
            <a:r>
              <a:rPr lang="en-US" sz="4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endParaRPr sz="45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635"/>
              </a:buClr>
              <a:buSzPts val="6000"/>
              <a:buFont typeface="Arial Black"/>
              <a:buNone/>
            </a:pPr>
            <a:r>
              <a:rPr lang="en-US" sz="4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INTELIGÊNCIA ARTIFICAL</a:t>
            </a:r>
            <a:endParaRPr sz="4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1255712" y="3373437"/>
            <a:ext cx="30075300" cy="20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alibri"/>
              <a:buNone/>
            </a:pPr>
            <a:r>
              <a:rPr lang="pt-BR" sz="8800" b="1" dirty="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MODELAGEM PREDITIVA DE VENDAS EM UMA CAFETERIA</a:t>
            </a:r>
            <a:endParaRPr sz="8800" dirty="0">
              <a:solidFill>
                <a:srgbClr val="073763"/>
              </a:solidFill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79276A6-9A91-4291-8E69-EB2E6FE5F0D0}"/>
              </a:ext>
            </a:extLst>
          </p:cNvPr>
          <p:cNvGrpSpPr/>
          <p:nvPr/>
        </p:nvGrpSpPr>
        <p:grpSpPr>
          <a:xfrm>
            <a:off x="1048312" y="26100261"/>
            <a:ext cx="14287499" cy="7460350"/>
            <a:chOff x="1089988" y="27117830"/>
            <a:chExt cx="14287499" cy="7460350"/>
          </a:xfrm>
        </p:grpSpPr>
        <p:pic>
          <p:nvPicPr>
            <p:cNvPr id="76" name="Google Shape;76;p1" title="subtitulos-fundo-banner-cetam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89988" y="27117830"/>
              <a:ext cx="14287499" cy="7460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1"/>
            <p:cNvSpPr txBox="1"/>
            <p:nvPr/>
          </p:nvSpPr>
          <p:spPr>
            <a:xfrm>
              <a:off x="2144693" y="29848175"/>
              <a:ext cx="8661300" cy="123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74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METODOLOGIA</a:t>
              </a:r>
              <a:endParaRPr dirty="0"/>
            </a:p>
          </p:txBody>
        </p:sp>
      </p:grpSp>
      <p:sp>
        <p:nvSpPr>
          <p:cNvPr id="89" name="Google Shape;89;p1"/>
          <p:cNvSpPr txBox="1"/>
          <p:nvPr/>
        </p:nvSpPr>
        <p:spPr>
          <a:xfrm>
            <a:off x="1223055" y="30208090"/>
            <a:ext cx="14287500" cy="122824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4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A metodologia foi baseada em estudo quantitativo e exploratório, baseado em 149.116 registros de vendas de uma cafeteri</a:t>
            </a:r>
            <a:r>
              <a:rPr lang="pt-BR" sz="4400" dirty="0"/>
              <a:t>a, com as etapas: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4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Análise da estrutura e dos valores ausentes;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4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Tratamento das variáveis de data e horário;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4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Criação da variável </a:t>
            </a:r>
            <a:r>
              <a:rPr lang="pt-BR" sz="4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total_sales</a:t>
            </a:r>
            <a:r>
              <a:rPr lang="pt-BR" sz="4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4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Extração de informações temporais;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4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Codificação das variáveis categóricas por </a:t>
            </a:r>
            <a:r>
              <a:rPr lang="pt-BR" sz="4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r>
              <a:rPr lang="pt-BR" sz="4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-Hot </a:t>
            </a:r>
            <a:r>
              <a:rPr lang="pt-BR" sz="4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Encoding</a:t>
            </a:r>
            <a:r>
              <a:rPr lang="pt-BR" sz="4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4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Divisão dos dados em treino e teste — 80% e 20%;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4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Aplicação do </a:t>
            </a:r>
            <a:r>
              <a:rPr lang="pt-BR" sz="44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</a:t>
            </a:r>
            <a:r>
              <a:rPr lang="pt-BR" sz="4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Forest para regressão e classificação.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319476C2-442C-4A39-9829-95B41D001DB3}"/>
              </a:ext>
            </a:extLst>
          </p:cNvPr>
          <p:cNvGrpSpPr/>
          <p:nvPr/>
        </p:nvGrpSpPr>
        <p:grpSpPr>
          <a:xfrm>
            <a:off x="1117072" y="17121185"/>
            <a:ext cx="14395613" cy="11316971"/>
            <a:chOff x="949504" y="19729782"/>
            <a:chExt cx="14395613" cy="11316971"/>
          </a:xfrm>
        </p:grpSpPr>
        <p:pic>
          <p:nvPicPr>
            <p:cNvPr id="78" name="Google Shape;78;p1" title="subtitulos-fundo-banner-cetam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49504" y="19729782"/>
              <a:ext cx="14287499" cy="7460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"/>
            <p:cNvSpPr txBox="1"/>
            <p:nvPr/>
          </p:nvSpPr>
          <p:spPr>
            <a:xfrm>
              <a:off x="1504949" y="22538528"/>
              <a:ext cx="5357700" cy="123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74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OBJETIVOS</a:t>
              </a:r>
              <a:endParaRPr dirty="0"/>
            </a:p>
          </p:txBody>
        </p:sp>
        <p:sp>
          <p:nvSpPr>
            <p:cNvPr id="88" name="Google Shape;88;p1"/>
            <p:cNvSpPr txBox="1"/>
            <p:nvPr/>
          </p:nvSpPr>
          <p:spPr>
            <a:xfrm>
              <a:off x="1057617" y="23842600"/>
              <a:ext cx="14287500" cy="72041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pt-BR" sz="4400" b="1" i="0" u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Geral</a:t>
              </a:r>
              <a:r>
                <a:rPr lang="pt-BR" sz="4400" b="0" i="0" u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Desenvolver modelos para prever as vendas de produtos em uma cafeteria.</a:t>
              </a:r>
            </a:p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pt-BR" sz="4400" b="1" i="0" u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Específicos: </a:t>
              </a:r>
              <a:r>
                <a:rPr lang="pt-BR" sz="4400" i="0" u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Identificar padrões temporais e comerciais relacionados às vendas;</a:t>
              </a:r>
            </a:p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pt-BR" sz="4400" i="0" u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Comparar as principais métricas de desempenho de modelos – classificação e regressão;</a:t>
              </a:r>
            </a:p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pt-BR" sz="4400" i="0" u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Classificar as vendas em níveis baixo, médio e alto;</a:t>
              </a:r>
              <a:endParaRPr dirty="0"/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3FDE8505-FD08-4CBB-B2A9-F073B6279361}"/>
              </a:ext>
            </a:extLst>
          </p:cNvPr>
          <p:cNvGrpSpPr/>
          <p:nvPr/>
        </p:nvGrpSpPr>
        <p:grpSpPr>
          <a:xfrm>
            <a:off x="1052500" y="6700291"/>
            <a:ext cx="14490712" cy="13150611"/>
            <a:chOff x="1052500" y="7092175"/>
            <a:chExt cx="14490712" cy="13150611"/>
          </a:xfrm>
        </p:grpSpPr>
        <p:pic>
          <p:nvPicPr>
            <p:cNvPr id="80" name="Google Shape;80;p1" title="subtitulos-fundo-banner-cetam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52500" y="7092175"/>
              <a:ext cx="14287499" cy="7460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1"/>
            <p:cNvSpPr txBox="1"/>
            <p:nvPr/>
          </p:nvSpPr>
          <p:spPr>
            <a:xfrm>
              <a:off x="1739900" y="9696450"/>
              <a:ext cx="8661300" cy="123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7400" b="1" i="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INTRODUÇÃO</a:t>
              </a:r>
              <a:endParaRPr sz="7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1255712" y="11345862"/>
              <a:ext cx="14287500" cy="8896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pt-BR" sz="4400" dirty="0"/>
                <a:t>	A análise de dados aplicada ao setor de alimentação possibilita identificar padrões de consumo, compreender o comportamento das vendas e apoiar a tomada de decisões gerenciais. </a:t>
              </a:r>
            </a:p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pt-BR" sz="4400" dirty="0"/>
                <a:t>	Este estudo utiliza um conjunto de dados de vendas de uma cafeteria para aplicar técnicas de aprendizado de máquina voltadas à previsão do faturamento e à classificação dos produtos mais vendidos.</a:t>
              </a: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endParaRPr sz="4400" dirty="0"/>
            </a:p>
          </p:txBody>
        </p:sp>
      </p:grpSp>
      <p:pic>
        <p:nvPicPr>
          <p:cNvPr id="79" name="Google Shape;79;p1" title="subtitulos-fundo-banner-cet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54438" y="6672497"/>
            <a:ext cx="14287499" cy="74603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17268825" y="9348109"/>
            <a:ext cx="14287500" cy="17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7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FUNDAMENTAÇÃO TEÓRICA</a:t>
            </a:r>
            <a:endParaRPr sz="7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6725674" y="10719935"/>
            <a:ext cx="14287500" cy="9235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4400" dirty="0"/>
              <a:t>	O trabalho foi construído em três bases: a análise exploratória, que permite identificar padrões, tendências e inconsistências nos dados.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4400" dirty="0"/>
              <a:t>	A regressão, que estima valores numéricos, enquanto a classificação organiza os registros em categorias.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4400" dirty="0"/>
              <a:t>	O </a:t>
            </a:r>
            <a:r>
              <a:rPr lang="pt-BR" sz="4400" dirty="0" err="1"/>
              <a:t>Random</a:t>
            </a:r>
            <a:r>
              <a:rPr lang="pt-BR" sz="4400" dirty="0"/>
              <a:t> Forest, responsável por combinar várias árvores de decisão e permite modelar relações complexas entre as variáveis.</a:t>
            </a:r>
            <a:endParaRPr dirty="0"/>
          </a:p>
        </p:txBody>
      </p:sp>
      <p:sp>
        <p:nvSpPr>
          <p:cNvPr id="83" name="Google Shape;83;p1"/>
          <p:cNvSpPr txBox="1"/>
          <p:nvPr/>
        </p:nvSpPr>
        <p:spPr>
          <a:xfrm>
            <a:off x="4827587" y="5191125"/>
            <a:ext cx="22682100" cy="24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216000" rIns="432000" bIns="2160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5400" b="1" dirty="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Marcelo Freitas</a:t>
            </a:r>
            <a:r>
              <a:rPr lang="en-US" sz="5400" b="1" i="0" u="none" dirty="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5400" b="1" dirty="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Lucrecia de Sousa, </a:t>
            </a:r>
            <a:r>
              <a:rPr lang="pt-BR" sz="5400" b="1" dirty="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Elaine Lobato</a:t>
            </a:r>
            <a:endParaRPr sz="5400" b="1" dirty="0">
              <a:solidFill>
                <a:srgbClr val="1C4587"/>
              </a:solidFill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3400" dirty="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Centro de </a:t>
            </a:r>
            <a:r>
              <a:rPr lang="en-US" sz="3400" dirty="0" err="1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Educação</a:t>
            </a:r>
            <a:r>
              <a:rPr lang="en-US" sz="3400" dirty="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400" dirty="0" err="1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Tecnológica</a:t>
            </a:r>
            <a:r>
              <a:rPr lang="en-US" sz="3400" dirty="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 do Amazonas – CETAM Aníbal Beça 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3400" dirty="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Técnico de </a:t>
            </a:r>
            <a:r>
              <a:rPr lang="en-US" sz="3400" dirty="0" err="1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Nível</a:t>
            </a:r>
            <a:r>
              <a:rPr lang="en-US" sz="3400" dirty="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400" dirty="0" err="1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Médio</a:t>
            </a:r>
            <a:r>
              <a:rPr lang="en-US" sz="3400" dirty="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US" sz="3400" dirty="0" err="1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Inteligência</a:t>
            </a:r>
            <a:r>
              <a:rPr lang="en-US" sz="3400" dirty="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 Artificial</a:t>
            </a:r>
            <a:endParaRPr sz="3400" dirty="0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3400" dirty="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E-mail para </a:t>
            </a:r>
            <a:r>
              <a:rPr lang="en-US" sz="3400" dirty="0" err="1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contato</a:t>
            </a:r>
            <a:r>
              <a:rPr lang="en-US" sz="3400" dirty="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: marcelo.fsm01@gmail.com</a:t>
            </a:r>
            <a:endParaRPr sz="3400" dirty="0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7345025" y="20407406"/>
            <a:ext cx="12960300" cy="1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7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DISCUSSÃO E RESULTADOS</a:t>
            </a:r>
            <a:endParaRPr dirty="0"/>
          </a:p>
        </p:txBody>
      </p:sp>
      <p:sp>
        <p:nvSpPr>
          <p:cNvPr id="94" name="Google Shape;94;p1"/>
          <p:cNvSpPr txBox="1"/>
          <p:nvPr/>
        </p:nvSpPr>
        <p:spPr>
          <a:xfrm>
            <a:off x="17345025" y="37458910"/>
            <a:ext cx="7172400" cy="1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7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dirty="0"/>
          </a:p>
        </p:txBody>
      </p:sp>
      <p:sp>
        <p:nvSpPr>
          <p:cNvPr id="95" name="Google Shape;95;p1"/>
          <p:cNvSpPr txBox="1"/>
          <p:nvPr/>
        </p:nvSpPr>
        <p:spPr>
          <a:xfrm>
            <a:off x="17049748" y="39004681"/>
            <a:ext cx="14287500" cy="3058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99695" lvl="0" indent="0" algn="l" rtl="0">
              <a:lnSpc>
                <a:spcPct val="1070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>
                <a:solidFill>
                  <a:schemeClr val="tx1"/>
                </a:solidFill>
                <a:latin typeface="+mj-lt"/>
              </a:rPr>
              <a:t>CIB, Marcelo. </a:t>
            </a:r>
            <a:r>
              <a:rPr lang="pt-BR" sz="1800" b="1" u="none" strike="noStrike" dirty="0" err="1">
                <a:solidFill>
                  <a:schemeClr val="tx1"/>
                </a:solidFill>
                <a:effectLst/>
                <a:latin typeface="+mj-lt"/>
              </a:rPr>
              <a:t>Miniprojeto_vendas</a:t>
            </a:r>
            <a:r>
              <a:rPr lang="pt-BR" sz="1800" dirty="0">
                <a:solidFill>
                  <a:schemeClr val="tx1"/>
                </a:solidFill>
                <a:latin typeface="+mj-lt"/>
              </a:rPr>
              <a:t>: </a:t>
            </a:r>
            <a:r>
              <a:rPr lang="pt-BR" sz="1800" dirty="0" err="1">
                <a:solidFill>
                  <a:schemeClr val="tx1"/>
                </a:solidFill>
                <a:latin typeface="+mj-lt"/>
              </a:rPr>
              <a:t>Mini_projeto_Vendas.ipynb</a:t>
            </a:r>
            <a:r>
              <a:rPr lang="pt-BR" sz="1800" dirty="0">
                <a:solidFill>
                  <a:schemeClr val="tx1"/>
                </a:solidFill>
                <a:latin typeface="+mj-lt"/>
              </a:rPr>
              <a:t>. Versão: </a:t>
            </a:r>
            <a:r>
              <a:rPr lang="pt-BR" sz="1800" dirty="0" err="1">
                <a:solidFill>
                  <a:schemeClr val="tx1"/>
                </a:solidFill>
                <a:latin typeface="+mj-lt"/>
              </a:rPr>
              <a:t>main</a:t>
            </a:r>
            <a:r>
              <a:rPr lang="pt-BR" sz="1800" dirty="0">
                <a:solidFill>
                  <a:schemeClr val="tx1"/>
                </a:solidFill>
                <a:latin typeface="+mj-lt"/>
              </a:rPr>
              <a:t>. GitHub, 2026. Disponível em: </a:t>
            </a:r>
            <a:r>
              <a:rPr lang="pt-BR" sz="1800" b="0" u="none" strike="noStrike" dirty="0">
                <a:solidFill>
                  <a:schemeClr val="tx1"/>
                </a:solidFill>
                <a:effectLst/>
                <a:latin typeface="+mj-lt"/>
              </a:rPr>
              <a:t>https://github.com/</a:t>
            </a:r>
            <a:r>
              <a:rPr lang="pt-BR" sz="1800" b="0" u="none" strike="noStrike" dirty="0" err="1">
                <a:solidFill>
                  <a:schemeClr val="tx1"/>
                </a:solidFill>
                <a:effectLst/>
                <a:latin typeface="+mj-lt"/>
              </a:rPr>
              <a:t>marcelo-cib</a:t>
            </a:r>
            <a:r>
              <a:rPr lang="pt-BR" sz="1800" b="0" u="none" strike="noStrike" dirty="0">
                <a:solidFill>
                  <a:schemeClr val="tx1"/>
                </a:solidFill>
                <a:effectLst/>
                <a:latin typeface="+mj-lt"/>
              </a:rPr>
              <a:t>/</a:t>
            </a:r>
            <a:r>
              <a:rPr lang="pt-BR" sz="1800" b="0" u="none" strike="noStrike" dirty="0" err="1">
                <a:solidFill>
                  <a:schemeClr val="tx1"/>
                </a:solidFill>
                <a:effectLst/>
                <a:latin typeface="+mj-lt"/>
              </a:rPr>
              <a:t>Miniprojeto_vendas</a:t>
            </a:r>
            <a:r>
              <a:rPr lang="pt-BR" sz="1800" b="0" u="none" strike="noStrike" dirty="0">
                <a:solidFill>
                  <a:schemeClr val="tx1"/>
                </a:solidFill>
                <a:effectLst/>
                <a:latin typeface="+mj-lt"/>
              </a:rPr>
              <a:t>/</a:t>
            </a:r>
            <a:r>
              <a:rPr lang="pt-BR" sz="1800" b="0" u="none" strike="noStrike" dirty="0" err="1">
                <a:solidFill>
                  <a:schemeClr val="tx1"/>
                </a:solidFill>
                <a:effectLst/>
                <a:latin typeface="+mj-lt"/>
              </a:rPr>
              <a:t>blob</a:t>
            </a:r>
            <a:r>
              <a:rPr lang="pt-BR" sz="1800" b="0" u="none" strike="noStrike" dirty="0">
                <a:solidFill>
                  <a:schemeClr val="tx1"/>
                </a:solidFill>
                <a:effectLst/>
                <a:latin typeface="+mj-lt"/>
              </a:rPr>
              <a:t>/</a:t>
            </a:r>
            <a:r>
              <a:rPr lang="pt-BR" sz="1800" b="0" u="none" strike="noStrike" dirty="0" err="1">
                <a:solidFill>
                  <a:schemeClr val="tx1"/>
                </a:solidFill>
                <a:effectLst/>
                <a:latin typeface="+mj-lt"/>
              </a:rPr>
              <a:t>main</a:t>
            </a:r>
            <a:r>
              <a:rPr lang="pt-BR" sz="1800" b="0" u="none" strike="noStrike" dirty="0">
                <a:solidFill>
                  <a:schemeClr val="tx1"/>
                </a:solidFill>
                <a:effectLst/>
                <a:latin typeface="+mj-lt"/>
              </a:rPr>
              <a:t>/</a:t>
            </a:r>
            <a:r>
              <a:rPr lang="pt-BR" sz="1800" b="0" u="none" strike="noStrike" dirty="0" err="1">
                <a:solidFill>
                  <a:schemeClr val="tx1"/>
                </a:solidFill>
                <a:effectLst/>
                <a:latin typeface="+mj-lt"/>
              </a:rPr>
              <a:t>Mini_projeto_Vendas.ipynb</a:t>
            </a:r>
            <a:r>
              <a:rPr lang="pt-BR" sz="1800" dirty="0">
                <a:solidFill>
                  <a:schemeClr val="tx1"/>
                </a:solidFill>
                <a:latin typeface="+mj-lt"/>
              </a:rPr>
              <a:t>. Acesso em: 16 sep. 2026.</a:t>
            </a:r>
          </a:p>
          <a:p>
            <a:pPr marL="99695" lvl="0" indent="0" algn="l" rtl="0">
              <a:lnSpc>
                <a:spcPct val="1070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800" dirty="0">
              <a:solidFill>
                <a:schemeClr val="tx1"/>
              </a:solidFill>
              <a:latin typeface="+mj-lt"/>
            </a:endParaRPr>
          </a:p>
          <a:p>
            <a:pPr marL="99695" lvl="0" indent="0" algn="l" rtl="0">
              <a:lnSpc>
                <a:spcPct val="1070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>
                <a:solidFill>
                  <a:schemeClr val="tx1"/>
                </a:solidFill>
                <a:latin typeface="+mj-lt"/>
              </a:rPr>
              <a:t>FREITAS, Marcelo. Modelagem preditiva de vendas em uma cafeteria. Google </a:t>
            </a:r>
            <a:r>
              <a:rPr lang="pt-BR" sz="1800" dirty="0" err="1">
                <a:solidFill>
                  <a:schemeClr val="tx1"/>
                </a:solidFill>
                <a:latin typeface="+mj-lt"/>
              </a:rPr>
              <a:t>Colab</a:t>
            </a:r>
            <a:r>
              <a:rPr lang="pt-BR" sz="1800" dirty="0">
                <a:solidFill>
                  <a:schemeClr val="tx1"/>
                </a:solidFill>
                <a:latin typeface="+mj-lt"/>
              </a:rPr>
              <a:t>, 2026. Disponível em: google.com. Acesso em: 16 set. 2026.</a:t>
            </a:r>
          </a:p>
          <a:p>
            <a:pPr marL="99695" lvl="0" indent="0" algn="l" rtl="0">
              <a:lnSpc>
                <a:spcPct val="1070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800" dirty="0">
              <a:solidFill>
                <a:schemeClr val="tx1"/>
              </a:solidFill>
              <a:latin typeface="+mj-lt"/>
            </a:endParaRPr>
          </a:p>
          <a:p>
            <a:pPr marL="99695" lvl="0" indent="0" algn="l" rtl="0">
              <a:lnSpc>
                <a:spcPct val="1070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>
                <a:solidFill>
                  <a:schemeClr val="tx1"/>
                </a:solidFill>
                <a:latin typeface="+mj-lt"/>
              </a:rPr>
              <a:t>PAMBUDI, </a:t>
            </a:r>
            <a:r>
              <a:rPr lang="pt-BR" sz="1800" dirty="0" err="1">
                <a:solidFill>
                  <a:schemeClr val="tx1"/>
                </a:solidFill>
                <a:latin typeface="+mj-lt"/>
              </a:rPr>
              <a:t>Agung</a:t>
            </a:r>
            <a:r>
              <a:rPr lang="pt-BR" sz="1800" dirty="0">
                <a:solidFill>
                  <a:schemeClr val="tx1"/>
                </a:solidFill>
                <a:latin typeface="+mj-lt"/>
              </a:rPr>
              <a:t>. </a:t>
            </a:r>
            <a:r>
              <a:rPr lang="pt-BR" sz="1800" b="1" u="none" strike="noStrike" dirty="0" err="1">
                <a:solidFill>
                  <a:schemeClr val="tx1"/>
                </a:solidFill>
                <a:effectLst/>
                <a:latin typeface="+mj-lt"/>
              </a:rPr>
              <a:t>Maven</a:t>
            </a:r>
            <a:r>
              <a:rPr lang="pt-BR" sz="1800" b="1" u="none" strike="noStrike" dirty="0"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lang="pt-BR" sz="1800" b="1" u="none" strike="noStrike" dirty="0" err="1">
                <a:solidFill>
                  <a:schemeClr val="tx1"/>
                </a:solidFill>
                <a:effectLst/>
                <a:latin typeface="+mj-lt"/>
              </a:rPr>
              <a:t>Roasters</a:t>
            </a:r>
            <a:r>
              <a:rPr lang="pt-BR" sz="1800" b="1" u="none" strike="noStrike" dirty="0"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lang="pt-BR" sz="1800" b="1" u="none" strike="noStrike" dirty="0" err="1">
                <a:solidFill>
                  <a:schemeClr val="tx1"/>
                </a:solidFill>
                <a:effectLst/>
                <a:latin typeface="+mj-lt"/>
              </a:rPr>
              <a:t>Coffee</a:t>
            </a:r>
            <a:r>
              <a:rPr lang="pt-BR" sz="1800" b="1" u="none" strike="noStrike" dirty="0">
                <a:solidFill>
                  <a:schemeClr val="tx1"/>
                </a:solidFill>
                <a:effectLst/>
                <a:latin typeface="+mj-lt"/>
              </a:rPr>
              <a:t> Shop Sales &amp; </a:t>
            </a:r>
            <a:r>
              <a:rPr lang="pt-BR" sz="1800" b="1" u="none" strike="noStrike" dirty="0" err="1">
                <a:solidFill>
                  <a:schemeClr val="tx1"/>
                </a:solidFill>
                <a:effectLst/>
                <a:latin typeface="+mj-lt"/>
              </a:rPr>
              <a:t>Revenue</a:t>
            </a:r>
            <a:r>
              <a:rPr lang="pt-BR" sz="1800" b="1" u="none" strike="noStrike" dirty="0">
                <a:solidFill>
                  <a:schemeClr val="tx1"/>
                </a:solidFill>
                <a:effectLst/>
                <a:latin typeface="+mj-lt"/>
              </a:rPr>
              <a:t> Data</a:t>
            </a:r>
            <a:r>
              <a:rPr lang="pt-BR" sz="1800" dirty="0">
                <a:solidFill>
                  <a:schemeClr val="tx1"/>
                </a:solidFill>
                <a:latin typeface="+mj-lt"/>
              </a:rPr>
              <a:t>: </a:t>
            </a:r>
            <a:r>
              <a:rPr lang="pt-BR" sz="1800" dirty="0" err="1">
                <a:solidFill>
                  <a:schemeClr val="tx1"/>
                </a:solidFill>
                <a:latin typeface="+mj-lt"/>
              </a:rPr>
              <a:t>Unveiling</a:t>
            </a:r>
            <a:r>
              <a:rPr lang="pt-BR" sz="1800" dirty="0">
                <a:solidFill>
                  <a:schemeClr val="tx1"/>
                </a:solidFill>
                <a:latin typeface="+mj-lt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+mj-lt"/>
              </a:rPr>
              <a:t>Trends</a:t>
            </a:r>
            <a:r>
              <a:rPr lang="pt-BR" sz="1800" dirty="0">
                <a:solidFill>
                  <a:schemeClr val="tx1"/>
                </a:solidFill>
                <a:latin typeface="+mj-lt"/>
              </a:rPr>
              <a:t>: Time </a:t>
            </a:r>
            <a:r>
              <a:rPr lang="pt-BR" sz="1800" dirty="0" err="1">
                <a:solidFill>
                  <a:schemeClr val="tx1"/>
                </a:solidFill>
                <a:latin typeface="+mj-lt"/>
              </a:rPr>
              <a:t>Analysis</a:t>
            </a:r>
            <a:r>
              <a:rPr lang="pt-BR" sz="1800" dirty="0">
                <a:solidFill>
                  <a:schemeClr val="tx1"/>
                </a:solidFill>
                <a:latin typeface="+mj-lt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+mj-lt"/>
              </a:rPr>
              <a:t>Transaction</a:t>
            </a:r>
            <a:r>
              <a:rPr lang="pt-BR" sz="1800" dirty="0">
                <a:solidFill>
                  <a:schemeClr val="tx1"/>
                </a:solidFill>
                <a:latin typeface="+mj-lt"/>
              </a:rPr>
              <a:t> &amp; </a:t>
            </a:r>
            <a:r>
              <a:rPr lang="pt-BR" sz="1800" dirty="0" err="1">
                <a:solidFill>
                  <a:schemeClr val="tx1"/>
                </a:solidFill>
                <a:latin typeface="+mj-lt"/>
              </a:rPr>
              <a:t>Revenue</a:t>
            </a:r>
            <a:r>
              <a:rPr lang="pt-BR" sz="1800" dirty="0">
                <a:solidFill>
                  <a:schemeClr val="tx1"/>
                </a:solidFill>
                <a:latin typeface="+mj-lt"/>
              </a:rPr>
              <a:t> in </a:t>
            </a:r>
            <a:r>
              <a:rPr lang="pt-BR" sz="1800" dirty="0" err="1">
                <a:solidFill>
                  <a:schemeClr val="tx1"/>
                </a:solidFill>
                <a:latin typeface="+mj-lt"/>
              </a:rPr>
              <a:t>Coffee</a:t>
            </a:r>
            <a:r>
              <a:rPr lang="pt-BR" sz="1800" dirty="0">
                <a:solidFill>
                  <a:schemeClr val="tx1"/>
                </a:solidFill>
                <a:latin typeface="+mj-lt"/>
              </a:rPr>
              <a:t> Shop Sales Data</a:t>
            </a:r>
            <a:r>
              <a:rPr lang="pt-BR" sz="1800" b="0" u="none" strike="noStrike" dirty="0">
                <a:solidFill>
                  <a:schemeClr val="tx1"/>
                </a:solidFill>
                <a:effectLst/>
                <a:latin typeface="+mj-lt"/>
              </a:rPr>
              <a:t>. </a:t>
            </a:r>
            <a:r>
              <a:rPr lang="pt-BR" sz="1800" b="0" u="none" strike="noStrike" dirty="0" err="1">
                <a:solidFill>
                  <a:schemeClr val="tx1"/>
                </a:solidFill>
                <a:effectLst/>
                <a:latin typeface="+mj-lt"/>
              </a:rPr>
              <a:t>Kaggle</a:t>
            </a:r>
            <a:r>
              <a:rPr lang="pt-BR" sz="1800" b="0" u="none" strike="noStrike" dirty="0">
                <a:solidFill>
                  <a:schemeClr val="tx1"/>
                </a:solidFill>
                <a:effectLst/>
                <a:latin typeface="+mj-lt"/>
              </a:rPr>
              <a:t>, 2023. Disponível em: https://www.kaggle.com/</a:t>
            </a:r>
            <a:r>
              <a:rPr lang="pt-BR" sz="1800" b="0" u="none" strike="noStrike" dirty="0" err="1">
                <a:solidFill>
                  <a:schemeClr val="tx1"/>
                </a:solidFill>
                <a:effectLst/>
                <a:latin typeface="+mj-lt"/>
              </a:rPr>
              <a:t>datasets</a:t>
            </a:r>
            <a:r>
              <a:rPr lang="pt-BR" sz="1800" b="0" u="none" strike="noStrike" dirty="0">
                <a:solidFill>
                  <a:schemeClr val="tx1"/>
                </a:solidFill>
                <a:effectLst/>
                <a:latin typeface="+mj-lt"/>
              </a:rPr>
              <a:t>/</a:t>
            </a:r>
            <a:r>
              <a:rPr lang="pt-BR" sz="1800" b="0" u="none" strike="noStrike" dirty="0" err="1">
                <a:solidFill>
                  <a:schemeClr val="tx1"/>
                </a:solidFill>
                <a:effectLst/>
                <a:latin typeface="+mj-lt"/>
              </a:rPr>
              <a:t>agungpambudi</a:t>
            </a:r>
            <a:r>
              <a:rPr lang="pt-BR" sz="1800" b="0" u="none" strike="noStrike" dirty="0">
                <a:solidFill>
                  <a:schemeClr val="tx1"/>
                </a:solidFill>
                <a:effectLst/>
                <a:latin typeface="+mj-lt"/>
              </a:rPr>
              <a:t>/</a:t>
            </a:r>
            <a:r>
              <a:rPr lang="pt-BR" sz="1800" b="0" u="none" strike="noStrike" dirty="0" err="1">
                <a:solidFill>
                  <a:schemeClr val="tx1"/>
                </a:solidFill>
                <a:effectLst/>
                <a:latin typeface="+mj-lt"/>
              </a:rPr>
              <a:t>trends</a:t>
            </a:r>
            <a:r>
              <a:rPr lang="pt-BR" sz="1800" b="0" u="none" strike="noStrike" dirty="0">
                <a:solidFill>
                  <a:schemeClr val="tx1"/>
                </a:solidFill>
                <a:effectLst/>
                <a:latin typeface="+mj-lt"/>
              </a:rPr>
              <a:t>-</a:t>
            </a:r>
            <a:r>
              <a:rPr lang="pt-BR" sz="1800" b="0" u="none" strike="noStrike" dirty="0" err="1">
                <a:solidFill>
                  <a:schemeClr val="tx1"/>
                </a:solidFill>
                <a:effectLst/>
                <a:latin typeface="+mj-lt"/>
              </a:rPr>
              <a:t>product</a:t>
            </a:r>
            <a:r>
              <a:rPr lang="pt-BR" sz="1800" b="0" u="none" strike="noStrike" dirty="0">
                <a:solidFill>
                  <a:schemeClr val="tx1"/>
                </a:solidFill>
                <a:effectLst/>
                <a:latin typeface="+mj-lt"/>
              </a:rPr>
              <a:t>-</a:t>
            </a:r>
            <a:r>
              <a:rPr lang="pt-BR" sz="1800" b="0" u="none" strike="noStrike" dirty="0" err="1">
                <a:solidFill>
                  <a:schemeClr val="tx1"/>
                </a:solidFill>
                <a:effectLst/>
                <a:latin typeface="+mj-lt"/>
              </a:rPr>
              <a:t>coffee</a:t>
            </a:r>
            <a:r>
              <a:rPr lang="pt-BR" sz="1800" b="0" u="none" strike="noStrike" dirty="0">
                <a:solidFill>
                  <a:schemeClr val="tx1"/>
                </a:solidFill>
                <a:effectLst/>
                <a:latin typeface="+mj-lt"/>
              </a:rPr>
              <a:t>-shop-</a:t>
            </a:r>
            <a:r>
              <a:rPr lang="pt-BR" sz="1800" b="0" u="none" strike="noStrike" dirty="0" err="1">
                <a:solidFill>
                  <a:schemeClr val="tx1"/>
                </a:solidFill>
                <a:effectLst/>
                <a:latin typeface="+mj-lt"/>
              </a:rPr>
              <a:t>sales</a:t>
            </a:r>
            <a:r>
              <a:rPr lang="pt-BR" sz="1800" b="0" u="none" strike="noStrike" dirty="0">
                <a:solidFill>
                  <a:schemeClr val="tx1"/>
                </a:solidFill>
                <a:effectLst/>
                <a:latin typeface="+mj-lt"/>
              </a:rPr>
              <a:t>-</a:t>
            </a:r>
            <a:r>
              <a:rPr lang="pt-BR" sz="1800" b="0" u="none" strike="noStrike" dirty="0" err="1">
                <a:solidFill>
                  <a:schemeClr val="tx1"/>
                </a:solidFill>
                <a:effectLst/>
                <a:latin typeface="+mj-lt"/>
              </a:rPr>
              <a:t>revenue-dataset</a:t>
            </a:r>
            <a:r>
              <a:rPr lang="pt-BR" sz="1800" dirty="0">
                <a:solidFill>
                  <a:schemeClr val="tx1"/>
                </a:solidFill>
                <a:latin typeface="+mj-lt"/>
              </a:rPr>
              <a:t>. Acesso em: 16 set. 2026. </a:t>
            </a:r>
            <a:endParaRPr lang="pt-BR" sz="1800" u="sng" dirty="0">
              <a:solidFill>
                <a:schemeClr val="tx1"/>
              </a:solidFill>
              <a:latin typeface="+mj-lt"/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99695" lvl="0" indent="0" algn="l" rtl="0">
              <a:lnSpc>
                <a:spcPct val="1070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800" u="sng" dirty="0">
              <a:solidFill>
                <a:schemeClr val="dk1"/>
              </a:solidFill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5937890" y="36136824"/>
            <a:ext cx="8123620" cy="47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lang="en-US" sz="25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</a:t>
            </a:r>
            <a:r>
              <a:rPr lang="en-US" sz="2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2. </a:t>
            </a:r>
            <a:r>
              <a:rPr lang="en-US" sz="25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Previsões</a:t>
            </a:r>
            <a:r>
              <a:rPr lang="en-US" sz="2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vs. </a:t>
            </a:r>
            <a:r>
              <a:rPr lang="en-US" sz="25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Valores</a:t>
            </a:r>
            <a:r>
              <a:rPr lang="en-US" sz="2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Reais (</a:t>
            </a:r>
            <a:r>
              <a:rPr lang="en-US" sz="25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</a:t>
            </a:r>
            <a:r>
              <a:rPr lang="en-US" sz="2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5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Regressão</a:t>
            </a:r>
            <a:r>
              <a:rPr lang="en-US" sz="2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</p:txBody>
      </p:sp>
      <p:sp>
        <p:nvSpPr>
          <p:cNvPr id="101" name="Google Shape;101;p1"/>
          <p:cNvSpPr txBox="1"/>
          <p:nvPr/>
        </p:nvSpPr>
        <p:spPr>
          <a:xfrm>
            <a:off x="24343010" y="36132993"/>
            <a:ext cx="7379636" cy="47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lang="en-US" sz="25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</a:t>
            </a:r>
            <a:r>
              <a:rPr lang="en-US" sz="2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3. </a:t>
            </a:r>
            <a:r>
              <a:rPr lang="en-US" sz="25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Matriz</a:t>
            </a:r>
            <a:r>
              <a:rPr lang="en-US" sz="2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5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Correlação</a:t>
            </a:r>
            <a:r>
              <a:rPr lang="en-US" sz="2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das </a:t>
            </a:r>
            <a:r>
              <a:rPr lang="en-US" sz="25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Variáveis</a:t>
            </a:r>
            <a:r>
              <a:rPr lang="en-US" sz="2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Numéricas</a:t>
            </a:r>
            <a:endParaRPr dirty="0"/>
          </a:p>
        </p:txBody>
      </p:sp>
      <p:sp>
        <p:nvSpPr>
          <p:cNvPr id="102" name="Google Shape;102;p1"/>
          <p:cNvSpPr txBox="1"/>
          <p:nvPr/>
        </p:nvSpPr>
        <p:spPr>
          <a:xfrm>
            <a:off x="9029700" y="2463725"/>
            <a:ext cx="12573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TECNOLOGIA	.	INOVAÇÃO		.	EDUCAÇÃO		.	AMAZÔNIA</a:t>
            </a:r>
            <a:endParaRPr sz="27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6085A14-F81D-44B7-A6FD-8B2CE2E918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13399" y="29610442"/>
            <a:ext cx="8048111" cy="64287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20B55F5-190E-480E-9BBD-FB4FD25B07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81819" y="22030377"/>
            <a:ext cx="11642336" cy="67562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47C593D-AAFF-4F8F-BE4B-B3687D4A23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43009" y="29615544"/>
            <a:ext cx="7176472" cy="6429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7" name="Google Shape;100;p1">
            <a:extLst>
              <a:ext uri="{FF2B5EF4-FFF2-40B4-BE49-F238E27FC236}">
                <a16:creationId xmlns:a16="http://schemas.microsoft.com/office/drawing/2014/main" id="{F0139698-AF6B-465D-A5C3-7C1F1BC00605}"/>
              </a:ext>
            </a:extLst>
          </p:cNvPr>
          <p:cNvSpPr txBox="1"/>
          <p:nvPr/>
        </p:nvSpPr>
        <p:spPr>
          <a:xfrm>
            <a:off x="17995654" y="28718616"/>
            <a:ext cx="12637670" cy="47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lang="en-US" sz="25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</a:t>
            </a:r>
            <a:r>
              <a:rPr lang="en-US" sz="2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 </a:t>
            </a:r>
            <a:r>
              <a:rPr lang="en-US" sz="25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Comparação</a:t>
            </a:r>
            <a:r>
              <a:rPr lang="en-US" sz="2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5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métricas</a:t>
            </a:r>
            <a:r>
              <a:rPr lang="en-US" sz="2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</a:t>
            </a:r>
            <a:r>
              <a:rPr lang="en-US" sz="25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modelos</a:t>
            </a:r>
            <a:r>
              <a:rPr lang="en-US" sz="2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5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Regressão</a:t>
            </a:r>
            <a:r>
              <a:rPr lang="en-US" sz="25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25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Classificação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532</Words>
  <Application>Microsoft Office PowerPoint</Application>
  <PresentationFormat>Personalizar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Marcia</dc:creator>
  <cp:lastModifiedBy>Centro Cultural Aníbal Beça</cp:lastModifiedBy>
  <cp:revision>7</cp:revision>
  <dcterms:created xsi:type="dcterms:W3CDTF">2014-09-15T23:22:55Z</dcterms:created>
  <dcterms:modified xsi:type="dcterms:W3CDTF">2026-09-17T00:26:09Z</dcterms:modified>
</cp:coreProperties>
</file>